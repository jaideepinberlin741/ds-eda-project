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Housing Analysis for Larry Sanders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King County Housing Market - Data-Driven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Client Profile: Larry Sanders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Buyer seeking waterfront property</a:t>
            </a:r>
          </a:p>
          <a:p>
            <a:pPr>
              <a:spcAft>
                <a:spcPts val="1200"/>
              </a:spcAft>
              <a:defRPr sz="1800"/>
            </a:pPr>
            <a:r>
              <a:t>Limited budget constraints</a:t>
            </a:r>
          </a:p>
          <a:p>
            <a:pPr>
              <a:spcAft>
                <a:spcPts val="1200"/>
              </a:spcAft>
              <a:defRPr sz="1800"/>
            </a:pPr>
            <a:r>
              <a:t>Requires central location in Seattle</a:t>
            </a:r>
          </a:p>
          <a:p>
            <a:pPr>
              <a:spcAft>
                <a:spcPts val="1200"/>
              </a:spcAft>
              <a:defRPr sz="1800"/>
            </a:pPr>
            <a:r>
              <a:t>Prefers isolated neighborhood (minimal children)</a:t>
            </a:r>
          </a:p>
          <a:p>
            <a:pPr>
              <a:spcAft>
                <a:spcPts val="1200"/>
              </a:spcAft>
              <a:defRPr sz="1800"/>
            </a:pPr>
            <a:r>
              <a:t>Goal: Find the perfect match for his family's needs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Analyzed King County housing sales data</a:t>
            </a:r>
          </a:p>
          <a:p>
            <a:pPr>
              <a:spcAft>
                <a:spcPts val="1200"/>
              </a:spcAft>
              <a:defRPr sz="1800"/>
            </a:pPr>
            <a:r>
              <a:t>Processed 21,000+ house sales records</a:t>
            </a:r>
          </a:p>
          <a:p>
            <a:pPr>
              <a:spcAft>
                <a:spcPts val="1200"/>
              </a:spcAft>
              <a:defRPr sz="1800"/>
            </a:pPr>
            <a:r>
              <a:t>Engineered custom metrics for client requirements</a:t>
            </a:r>
          </a:p>
          <a:p>
            <a:pPr>
              <a:spcAft>
                <a:spcPts val="1200"/>
              </a:spcAft>
              <a:defRPr sz="1800"/>
            </a:pPr>
            <a:r>
              <a:t>Identified optimal properties matching criteria</a:t>
            </a:r>
          </a:p>
          <a:p>
            <a:pPr>
              <a:spcAft>
                <a:spcPts val="1200"/>
              </a:spcAft>
              <a:defRPr sz="1800"/>
            </a:pPr>
            <a:r>
              <a:t>Generated actionable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Data Preparation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Merged house sales and house details datasets</a:t>
            </a:r>
          </a:p>
          <a:p>
            <a:pPr>
              <a:spcAft>
                <a:spcPts val="1200"/>
              </a:spcAft>
              <a:defRPr sz="1800"/>
            </a:pPr>
            <a:r>
              <a:t>Handled missing values (waterfront, view, renovation year)</a:t>
            </a:r>
          </a:p>
          <a:p>
            <a:pPr>
              <a:spcAft>
                <a:spcPts val="1200"/>
              </a:spcAft>
              <a:defRPr sz="1800"/>
            </a:pPr>
            <a:r>
              <a:t>Created price per square foot metric</a:t>
            </a:r>
          </a:p>
          <a:p>
            <a:pPr>
              <a:spcAft>
                <a:spcPts val="1200"/>
              </a:spcAft>
              <a:defRPr sz="1800"/>
            </a:pPr>
            <a:r>
              <a:t>Validated data quality and consistency</a:t>
            </a:r>
          </a:p>
          <a:p>
            <a:pPr>
              <a:spcAft>
                <a:spcPts val="1200"/>
              </a:spcAft>
              <a:defRPr sz="1800"/>
            </a:pPr>
            <a:r>
              <a:t>Prepared geographic coordinates for location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Custom Metrics Developed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Population Density</a:t>
            </a:r>
          </a:p>
          <a:p>
            <a:pPr>
              <a:spcAft>
                <a:spcPts val="1000"/>
              </a:spcAft>
              <a:defRPr sz="1600"/>
            </a:pPr>
            <a:r>
              <a:t>• Measures housing density in area</a:t>
            </a:r>
          </a:p>
          <a:p>
            <a:pPr>
              <a:spcAft>
                <a:spcPts val="1000"/>
              </a:spcAft>
              <a:defRPr sz="1600"/>
            </a:pPr>
            <a:r>
              <a:t>• Based on proximity to other houses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Centrality to Seattle</a:t>
            </a:r>
          </a:p>
          <a:p>
            <a:pPr>
              <a:spcAft>
                <a:spcPts val="1000"/>
              </a:spcAft>
              <a:defRPr sz="1600"/>
            </a:pPr>
            <a:r>
              <a:t>• Distance from downtown Seattle</a:t>
            </a:r>
          </a:p>
          <a:p>
            <a:pPr>
              <a:spcAft>
                <a:spcPts val="1000"/>
              </a:spcAft>
              <a:defRPr sz="1600"/>
            </a:pPr>
            <a:r>
              <a:t>• Higher score = more central location</a:t>
            </a:r>
          </a:p>
          <a:p>
            <a:pPr>
              <a:spcAft>
                <a:spcPts val="1000"/>
              </a:spcAft>
              <a:defRPr sz="1600"/>
            </a:pPr>
            <a:r>
              <a:t>• Steep penalty for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Kid Density</a:t>
            </a:r>
          </a:p>
          <a:p>
            <a:pPr>
              <a:spcAft>
                <a:spcPts val="1000"/>
              </a:spcAft>
              <a:defRPr sz="1600"/>
            </a:pPr>
            <a:r>
              <a:t>• Proportion of multi-bedroom homes nearby</a:t>
            </a:r>
          </a:p>
          <a:p>
            <a:pPr>
              <a:spcAft>
                <a:spcPts val="1000"/>
              </a:spcAft>
              <a:defRPr sz="1600"/>
            </a:pPr>
            <a:r>
              <a:t>• Lower score = fewer families with children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Larry Index</a:t>
            </a:r>
          </a:p>
          <a:p>
            <a:pPr>
              <a:spcAft>
                <a:spcPts val="1000"/>
              </a:spcAft>
              <a:defRPr sz="1600"/>
            </a:pPr>
            <a:r>
              <a:t>• Custom scoring metric</a:t>
            </a:r>
          </a:p>
          <a:p>
            <a:pPr>
              <a:spcAft>
                <a:spcPts val="1000"/>
              </a:spcAft>
              <a:defRPr sz="1600"/>
            </a:pPr>
            <a:r>
              <a:t>• Balances centrality vs. isolation</a:t>
            </a:r>
          </a:p>
          <a:p>
            <a:pPr>
              <a:spcAft>
                <a:spcPts val="1000"/>
              </a:spcAft>
              <a:defRPr sz="1600"/>
            </a:pPr>
            <a:r>
              <a:t>• Formula: Centrality / (1 + Population + Kid Density)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Key Insight #1: Geographic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Waterfront properties are concentrated in specific areas</a:t>
            </a:r>
          </a:p>
          <a:p>
            <a:pPr>
              <a:spcAft>
                <a:spcPts val="1200"/>
              </a:spcAft>
              <a:defRPr sz="1800"/>
            </a:pPr>
            <a:r>
              <a:t>Central Seattle locations show higher property values</a:t>
            </a:r>
          </a:p>
          <a:p>
            <a:pPr>
              <a:spcAft>
                <a:spcPts val="1200"/>
              </a:spcAft>
              <a:defRPr sz="1800"/>
            </a:pPr>
            <a:r>
              <a:t>Optimal matches found in specific geographic clusters</a:t>
            </a:r>
          </a:p>
          <a:p>
            <a:pPr>
              <a:spcAft>
                <a:spcPts val="1200"/>
              </a:spcAft>
              <a:defRPr sz="1800"/>
            </a:pPr>
            <a:r>
              <a:t>35 properties match all strict criteria simultaneously</a:t>
            </a:r>
          </a:p>
          <a:p>
            <a:pPr>
              <a:spcAft>
                <a:spcPts val="1200"/>
              </a:spcAft>
              <a:defRPr sz="1800"/>
            </a:pPr>
            <a:r>
              <a:t>Geographic clustering suggests neighborhood-specific opportunities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Key Insight #2: Price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Waterfront properties command premium prices</a:t>
            </a:r>
          </a:p>
          <a:p>
            <a:pPr>
              <a:spcAft>
                <a:spcPts val="1200"/>
              </a:spcAft>
              <a:defRPr sz="1800"/>
            </a:pPr>
            <a:r>
              <a:t>Centrality significantly impacts property values</a:t>
            </a:r>
          </a:p>
          <a:p>
            <a:pPr>
              <a:spcAft>
                <a:spcPts val="1200"/>
              </a:spcAft>
              <a:defRPr sz="1800"/>
            </a:pPr>
            <a:r>
              <a:t>Price per square foot varies by location and features</a:t>
            </a:r>
          </a:p>
          <a:p>
            <a:pPr>
              <a:spcAft>
                <a:spcPts val="1200"/>
              </a:spcAft>
              <a:defRPr sz="1800"/>
            </a:pPr>
            <a:r>
              <a:t>Budget constraints limit options but quality matches exist</a:t>
            </a:r>
          </a:p>
          <a:p>
            <a:pPr>
              <a:spcAft>
                <a:spcPts val="1200"/>
              </a:spcAft>
              <a:defRPr sz="1800"/>
            </a:pPr>
            <a:r>
              <a:t>Value opportunities identified in specific neighborhoods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Key Insight #3: Neighborhood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Kid density varies significantly across neighborhoods</a:t>
            </a:r>
          </a:p>
          <a:p>
            <a:pPr>
              <a:spcAft>
                <a:spcPts val="1200"/>
              </a:spcAft>
              <a:defRPr sz="1800"/>
            </a:pPr>
            <a:r>
              <a:t>Isolation from families with children is achievable</a:t>
            </a:r>
          </a:p>
          <a:p>
            <a:pPr>
              <a:spcAft>
                <a:spcPts val="1200"/>
              </a:spcAft>
              <a:defRPr sz="1800"/>
            </a:pPr>
            <a:r>
              <a:t>Central locations can still offer privacy</a:t>
            </a:r>
          </a:p>
          <a:p>
            <a:pPr>
              <a:spcAft>
                <a:spcPts val="1200"/>
              </a:spcAft>
              <a:defRPr sz="1800"/>
            </a:pPr>
            <a:r>
              <a:t>Waterfront + central + low kid density = rare combination</a:t>
            </a:r>
          </a:p>
          <a:p>
            <a:pPr>
              <a:spcAft>
                <a:spcPts val="1200"/>
              </a:spcAft>
              <a:defRPr sz="1800"/>
            </a:pPr>
            <a:r>
              <a:t>Larry Index successfully identifies optimal properties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✓ 35 properties match all criteria: waterfront, central, isolated</a:t>
            </a:r>
          </a:p>
          <a:p>
            <a:pPr>
              <a:spcAft>
                <a:spcPts val="1200"/>
              </a:spcAft>
              <a:defRPr sz="1800"/>
            </a:pPr>
            <a:r>
              <a:t>✓ Properties identified using Larry Index ranking</a:t>
            </a:r>
          </a:p>
          <a:p>
            <a:pPr>
              <a:spcAft>
                <a:spcPts val="1200"/>
              </a:spcAft>
              <a:defRPr sz="1800"/>
            </a:pPr>
            <a:r>
              <a:t>✓ Geographic visualization confirms optimal locations</a:t>
            </a:r>
          </a:p>
          <a:p>
            <a:pPr>
              <a:spcAft>
                <a:spcPts val="1200"/>
              </a:spcAft>
              <a:defRPr sz="1800"/>
            </a:pPr>
            <a:r>
              <a:t>✓ Price ranges suitable for limited budget identified</a:t>
            </a:r>
          </a:p>
          <a:p>
            <a:pPr>
              <a:spcAft>
                <a:spcPts val="1200"/>
              </a:spcAft>
              <a:defRPr sz="1800"/>
            </a:pPr>
            <a:r>
              <a:t>✓ Ready-to-review property list generated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Recommendation #1: Focus on Top-Ranked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Prioritize properties with highest Larry Index scores</a:t>
            </a:r>
          </a:p>
          <a:p>
            <a:pPr>
              <a:spcAft>
                <a:spcPts val="1200"/>
              </a:spcAft>
              <a:defRPr sz="1800"/>
            </a:pPr>
            <a:r>
              <a:t>These properties offer best balance of all requirements</a:t>
            </a:r>
          </a:p>
          <a:p>
            <a:pPr>
              <a:spcAft>
                <a:spcPts val="1200"/>
              </a:spcAft>
              <a:defRPr sz="1800"/>
            </a:pPr>
            <a:r>
              <a:t>Review top 10-15 properties first for efficiency</a:t>
            </a:r>
          </a:p>
          <a:p>
            <a:pPr>
              <a:spcAft>
                <a:spcPts val="1200"/>
              </a:spcAft>
              <a:defRPr sz="1800"/>
            </a:pPr>
            <a:r>
              <a:t>Consider properties slightly above budget if they offer exceptional value</a:t>
            </a:r>
          </a:p>
          <a:p>
            <a:pPr>
              <a:spcAft>
                <a:spcPts val="1200"/>
              </a:spcAft>
              <a:defRPr sz="1800"/>
            </a:pPr>
            <a:r>
              <a:t>Schedule viewings for top candidates immediately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Recommendation #2: Geographic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Focus search on identified geographic clusters</a:t>
            </a:r>
          </a:p>
          <a:p>
            <a:pPr>
              <a:spcAft>
                <a:spcPts val="1200"/>
              </a:spcAft>
              <a:defRPr sz="1800"/>
            </a:pPr>
            <a:r>
              <a:t>Properties in these areas meet multiple criteria simultaneously</a:t>
            </a:r>
          </a:p>
          <a:p>
            <a:pPr>
              <a:spcAft>
                <a:spcPts val="1200"/>
              </a:spcAft>
              <a:defRPr sz="1800"/>
            </a:pPr>
            <a:r>
              <a:t>Consider expanding search radius slightly if needed</a:t>
            </a:r>
          </a:p>
          <a:p>
            <a:pPr>
              <a:spcAft>
                <a:spcPts val="1200"/>
              </a:spcAft>
              <a:defRPr sz="1800"/>
            </a:pPr>
            <a:r>
              <a:t>Use geographic visualization to understand neighborhood context</a:t>
            </a:r>
          </a:p>
          <a:p>
            <a:pPr>
              <a:spcAft>
                <a:spcPts val="1200"/>
              </a:spcAft>
              <a:defRPr sz="1800"/>
            </a:pPr>
            <a:r>
              <a:t>Leverage location insights for negotiation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Recommendation #3: Timing &amp;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Act quickly - properties matching all criteria are limited</a:t>
            </a:r>
          </a:p>
          <a:p>
            <a:pPr>
              <a:spcAft>
                <a:spcPts val="1200"/>
              </a:spcAft>
              <a:defRPr sz="1800"/>
            </a:pPr>
            <a:r>
              <a:t>Monitor market for new listings in identified areas</a:t>
            </a:r>
          </a:p>
          <a:p>
            <a:pPr>
              <a:spcAft>
                <a:spcPts val="1200"/>
              </a:spcAft>
              <a:defRPr sz="1800"/>
            </a:pPr>
            <a:r>
              <a:t>Consider properties that meet 3 of 4 criteria as alternatives</a:t>
            </a:r>
          </a:p>
          <a:p>
            <a:pPr>
              <a:spcAft>
                <a:spcPts val="1200"/>
              </a:spcAft>
              <a:defRPr sz="1800"/>
            </a:pPr>
            <a:r>
              <a:t>Use Larry Index to evaluate new listings as they appear</a:t>
            </a:r>
          </a:p>
          <a:p>
            <a:pPr>
              <a:spcAft>
                <a:spcPts val="1200"/>
              </a:spcAft>
              <a:defRPr sz="1800"/>
            </a:pPr>
            <a:r>
              <a:t>Maintain flexibility on one criterion if exceptional property found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Key Statistics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✓ 35 properties identified matching all criteria</a:t>
            </a:r>
          </a:p>
          <a:p>
            <a:pPr>
              <a:spcAft>
                <a:spcPts val="1200"/>
              </a:spcAft>
              <a:defRPr sz="1800"/>
            </a:pPr>
            <a:r>
              <a:t>✓ Analysis based on 21,000+ house sales records</a:t>
            </a:r>
          </a:p>
          <a:p>
            <a:pPr>
              <a:spcAft>
                <a:spcPts val="1200"/>
              </a:spcAft>
              <a:defRPr sz="1800"/>
            </a:pPr>
            <a:r>
              <a:t>✓ Properties span multiple price ranges for budget flexibility</a:t>
            </a:r>
          </a:p>
          <a:p>
            <a:pPr>
              <a:spcAft>
                <a:spcPts val="1200"/>
              </a:spcAft>
              <a:defRPr sz="1800"/>
            </a:pPr>
            <a:r>
              <a:t>✓ All properties verified: waterfront + central + low kid density</a:t>
            </a:r>
          </a:p>
          <a:p>
            <a:pPr>
              <a:spcAft>
                <a:spcPts val="1200"/>
              </a:spcAft>
              <a:defRPr sz="1800"/>
            </a:pPr>
            <a:r>
              <a:t>✓ Larry Index calculated for optimal ranking and prioritization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Review detailed property list with house IDs and specifications</a:t>
            </a:r>
          </a:p>
          <a:p>
            <a:pPr>
              <a:spcAft>
                <a:spcPts val="1200"/>
              </a:spcAft>
              <a:defRPr sz="1800"/>
            </a:pPr>
            <a:r>
              <a:t>Schedule property viewings for top-ranked candidates</a:t>
            </a:r>
          </a:p>
          <a:p>
            <a:pPr>
              <a:spcAft>
                <a:spcPts val="1200"/>
              </a:spcAft>
              <a:defRPr sz="1800"/>
            </a:pPr>
            <a:r>
              <a:t>Validate on-site: waterfront access, neighborhood feel, kid density</a:t>
            </a:r>
          </a:p>
          <a:p>
            <a:pPr>
              <a:spcAft>
                <a:spcPts val="1200"/>
              </a:spcAft>
              <a:defRPr sz="1800"/>
            </a:pPr>
            <a:r>
              <a:t>Use analysis insights to inform negotiation strategy</a:t>
            </a:r>
          </a:p>
          <a:p>
            <a:pPr>
              <a:spcAft>
                <a:spcPts val="1200"/>
              </a:spcAft>
              <a:defRPr sz="1800"/>
            </a:pPr>
            <a:r>
              <a:t>Continue monitoring market for additional opportunities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Methodology Notes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Kid density calculated as proportion of multi-bedroom homes in radius</a:t>
            </a:r>
          </a:p>
          <a:p>
            <a:pPr>
              <a:spcAft>
                <a:spcPts val="1200"/>
              </a:spcAft>
              <a:defRPr sz="1800"/>
            </a:pPr>
            <a:r>
              <a:t>Centrality based on distance from Seattle downtown (47.6062°N, 122.3321°W)</a:t>
            </a:r>
          </a:p>
          <a:p>
            <a:pPr>
              <a:spcAft>
                <a:spcPts val="1200"/>
              </a:spcAft>
              <a:defRPr sz="1800"/>
            </a:pPr>
            <a:r>
              <a:t>Waterfront status from property records (may need verification)</a:t>
            </a:r>
          </a:p>
          <a:p>
            <a:pPr>
              <a:spcAft>
                <a:spcPts val="1200"/>
              </a:spcAft>
              <a:defRPr sz="1800"/>
            </a:pPr>
            <a:r>
              <a:t>Budget constraints applied based on price distribution analysis</a:t>
            </a:r>
          </a:p>
          <a:p>
            <a:pPr>
              <a:spcAft>
                <a:spcPts val="1200"/>
              </a:spcAft>
              <a:defRPr sz="1800"/>
            </a:pPr>
            <a:r>
              <a:t>All metrics normalized to 0-1 scale for comparability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72C4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